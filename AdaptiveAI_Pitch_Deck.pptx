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AdaptiveAI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27432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E5A8"/>
                </a:solidFill>
                <a:latin typeface="Calibri"/>
              </a:defRPr>
            </a:pPr>
            <a:r>
              <a:t>AI-Native Operational Intelligence Platform for Startups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A multi-agent reasoning system that helps startups discover, evaluate,</a:t>
            </a:r>
            <a:br/>
            <a:r>
              <a:t>and adopt the right AI tools — powered by 6 specialized agents.</a:t>
            </a:r>
          </a:p>
        </p:txBody>
      </p:sp>
      <p:pic>
        <p:nvPicPr>
          <p:cNvPr id="9" name="Picture 8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ByteHearts × Ranovex AI Product Hackathon 2026   |   Built by Pagadala Mohith   |  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Startups Are Drowning in AI Chaos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C0C0D0"/>
                </a:solidFill>
                <a:latin typeface="Calibri"/>
              </a:defRPr>
            </a:pPr>
            <a:r>
              <a:t>Every day, thousands of new AI tools are launched, promising to revolutionize how we work.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C0C0D0"/>
                </a:solidFill>
                <a:latin typeface="Calibri"/>
              </a:defRPr>
            </a:pPr>
            <a:r>
              <a:t>For founders, CTOs, and small business leaders, this explosion has turned into a massive headache.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C0C0D0"/>
                </a:solidFill>
                <a:latin typeface="Calibri"/>
              </a:defRPr>
            </a:pPr>
            <a:r>
              <a:t>They suffer from severe "AI FOMO" and "Tool Fatigue" — wasting thousands of dollars on overlapping AI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474720" cy="25603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Financial Waste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0"/>
                </a:solidFill>
                <a:latin typeface="Calibri"/>
              </a:defRPr>
            </a:pPr>
            <a:r>
              <a:t>Paying for overlapping SaaS tools</a:t>
            </a:r>
            <a:br/>
            <a:r>
              <a:t>with zero understanding of</a:t>
            </a:r>
            <a:br/>
            <a:r>
              <a:t>actual ROI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840480"/>
            <a:ext cx="3474720" cy="25603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4023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Operational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5120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0"/>
                </a:solidFill>
                <a:latin typeface="Calibri"/>
              </a:defRPr>
            </a:pPr>
            <a:r>
              <a:t>Teams spend hours on repetitive</a:t>
            </a:r>
            <a:br/>
            <a:r>
              <a:t>tasks because they can't</a:t>
            </a:r>
            <a:br/>
            <a:r>
              <a:t>orchestrate autonomous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474720" cy="25603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023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Security &amp; Obsolescence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1206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0"/>
                </a:solidFill>
                <a:latin typeface="Calibri"/>
              </a:defRPr>
            </a:pPr>
            <a:r>
              <a:t>Blindly integrating AI models</a:t>
            </a:r>
            <a:br/>
            <a:r>
              <a:t>that are insecure or about</a:t>
            </a:r>
            <a:br/>
            <a:r>
              <a:t>to be deprecated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20040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1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Your AI-Powered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AdaptiveAI is an intelligent stack optimizer and digital twin simulator.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C0C0D0"/>
                </a:solidFill>
                <a:latin typeface="Calibri"/>
              </a:defRPr>
            </a:pPr>
            <a:r>
              <a:t>It guides companies from ad-hoc tool adoption to systematic, AI-native automation.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E5A8"/>
                </a:solidFill>
                <a:latin typeface="Calibri"/>
              </a:defRPr>
            </a:pPr>
            <a:r>
              <a:t>✦  Scans your actual business parameters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E5A8"/>
                </a:solidFill>
                <a:latin typeface="Calibri"/>
              </a:defRPr>
            </a:pPr>
            <a:r>
              <a:t>✦  Models your workflows &amp; tests tool compatibilities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E5A8"/>
                </a:solidFill>
                <a:latin typeface="Calibri"/>
              </a:defRPr>
            </a:pPr>
            <a:r>
              <a:t>✦  Audits security feeds &amp; simulates efficiency gains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00E5A8"/>
                </a:solidFill>
                <a:latin typeface="Calibri"/>
              </a:defRPr>
            </a:pPr>
            <a:r>
              <a:t>✦  Creates a virtual sandbox before you spend a dollar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8888A0"/>
                </a:solidFill>
                <a:latin typeface="Calibri"/>
              </a:defRPr>
            </a:pPr>
            <a:r>
              <a:t>All powered by a collaborative pipeline of 6 specialized reasoning agents.</a:t>
            </a:r>
          </a:p>
        </p:txBody>
      </p:sp>
      <p:pic>
        <p:nvPicPr>
          <p:cNvPr id="6" name="Picture 5" descr="agent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AdaptiveAI Unique?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Unlike static AI directories or single-prompt wrappers, AdaptiveAI is a living, breathing operational cockpit.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474720" cy="36576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Multi-Model Bagger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D0"/>
                </a:solidFill>
                <a:latin typeface="Calibri"/>
              </a:defRPr>
            </a:pPr>
            <a:r>
              <a:t>We orchestrate 6 specialized agents in parallel — Workflow, Research, Sentiment, Trend, ROI, and Strategy — routing each task to the exact model optimized for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474720" cy="36576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971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Departmental Digital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D0"/>
                </a:solidFill>
                <a:latin typeface="Calibri"/>
              </a:defRPr>
            </a:pPr>
            <a:r>
              <a:t>We don't just recommend tools — we simulate them. We build a virtual, interactive model of your departments to test workflows and bottlenecks before any real-world migration.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474720" cy="36576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971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A8"/>
                </a:solidFill>
                <a:latin typeface="Calibri"/>
              </a:defRPr>
            </a:pPr>
            <a:r>
              <a:t>Real-Time 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1148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D0"/>
                </a:solidFill>
                <a:latin typeface="Calibri"/>
              </a:defRPr>
            </a:pPr>
            <a:r>
              <a:t>Every piece of advice is backed by live ecosystem feeds (GitHub, News API, Product Hunt) and physically committed to your secure spreadsheet database — zero hallucinations.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1A"/>
                </a:solidFill>
                <a:latin typeface="Calibri"/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Pillars of Intelligent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103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Multi-Agent Stack</a:t>
            </a:r>
            <a:br/>
            <a:r>
              <a:t>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8803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Orchestrates 6 reasoning agents in parallel to audit workflow pain points and compile a fully compatible, high-ROI AI tool stack tailored to your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03520" cy="2103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02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A8"/>
                </a:solidFill>
                <a:latin typeface="Calibri"/>
              </a:defRPr>
            </a:pPr>
            <a:r>
              <a:t>Interactive ROI</a:t>
            </a:r>
            <a:br/>
            <a:r>
              <a:t>Recalculation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8803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Input custom parameters (Team Size, Hourly Rates, Manual Hours, AI Budgets) to instantly trigger a multi-agent financial audit — computes savings in under 25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303520" cy="2103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177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Departmental Digital</a:t>
            </a:r>
            <a:br/>
            <a:r>
              <a:t>Twin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5780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Generates a virtual blueprint of your company's departments. Isolates manual friction points and simulates post-automation productivity gains.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5303520" cy="2103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6177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Operational Obsolescence</a:t>
            </a:r>
            <a:br/>
            <a:r>
              <a:t>&amp; Alert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25780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Real-time threat monitor scanning GitHub metrics, developer logs, and NVD CVE feeds. Warns of deprecation, licensing, or security risks while suggesting alternatives.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418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20040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1A"/>
                </a:solidFill>
                <a:latin typeface="Calibri"/>
              </a:defRPr>
            </a:pPr>
            <a:r>
              <a:t>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Orchestration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3-Phase Execution Pipeline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Phase 1 — Parallel Analysis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C0C0D0"/>
                </a:solidFill>
                <a:latin typeface="Calibri"/>
              </a:defRPr>
            </a:pPr>
            <a:r>
              <a:t>Workflow, Research, Sentiment, and Trend agents</a:t>
            </a:r>
            <a:br/>
            <a:r>
              <a:t>execute simultaneously for maximum speed.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Phase 2 — Sequential ROI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C0C0D0"/>
                </a:solidFill>
                <a:latin typeface="Calibri"/>
              </a:defRPr>
            </a:pPr>
            <a:r>
              <a:t>ROI agent runs after Research, using its tool</a:t>
            </a:r>
            <a:br/>
            <a:r>
              <a:t>recommendations as financial modeling input.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E5A8"/>
                </a:solidFill>
                <a:latin typeface="Calibri"/>
              </a:defRPr>
            </a:pPr>
            <a:r>
              <a:t>Phase 3 — Strategic Synthesis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C0C0D0"/>
                </a:solidFill>
                <a:latin typeface="Calibri"/>
              </a:defRPr>
            </a:pPr>
            <a:r>
              <a:t>Strategy agent combines all outputs into a</a:t>
            </a:r>
            <a:br/>
            <a:r>
              <a:t>unified, actionable roadmap.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Automatic Fallback Chain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8888A0"/>
                </a:solidFill>
                <a:latin typeface="Calibri"/>
              </a:defRPr>
            </a:pPr>
            <a:r>
              <a:t>Primary Model → Llama 3.3 → Llama 4 Scout</a:t>
            </a:r>
            <a:br/>
            <a:r>
              <a:t>→ OpenRouter → Mock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Multi-Model Bagger &amp; 3D Orbital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lti_model_b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03520" cy="4572000"/>
          </a:xfrm>
          <a:prstGeom prst="rect">
            <a:avLst/>
          </a:prstGeom>
        </p:spPr>
      </p:pic>
      <p:pic>
        <p:nvPicPr>
          <p:cNvPr id="6" name="Picture 5" descr="orbital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Proprietary Multi-Agent Collaborative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429768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Multi-Model Bagger (Groq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Operations distributed across a specialized cluster:</a:t>
            </a:r>
            <a:br/>
            <a:r>
              <a:t>• GPT-OSS-120B for Strategy Agent (strategic roadmaps)</a:t>
            </a:r>
            <a:br/>
            <a:r>
              <a:t>• Qwen 3 32B for Workflow, Research, Sentiment, Trend &amp; ROI Agents (structured JSON, math, classification)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474720" cy="429768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A8"/>
                </a:solidFill>
                <a:latin typeface="Calibri"/>
              </a:defRPr>
            </a:pPr>
            <a:r>
              <a:t>Live Web Ingestion &amp; Crawling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74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Custom HTML/BeautifulSoup4 parser scrapes target startup landing pages, preserving brand context to construct onboarding profiles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474720" cy="429768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Grounding &amp; Retrieval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Agents grounded on live external APIs:</a:t>
            </a:r>
            <a:br/>
            <a:r>
              <a:t>• GitHub Search API (starred momentum)</a:t>
            </a:r>
            <a:br/>
            <a:r>
              <a:t>• News API (emerging SaaS releases)</a:t>
            </a:r>
            <a:br/>
            <a:r>
              <a:t>• Product Hunt GraphQL V2 (upvotes)</a:t>
            </a:r>
            <a:br/>
            <a:r>
              <a:t>Preventing hallucinations with real-time ecosystem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1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With Modern, Battle-Tested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97480" cy="41148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Next.js 16 (React 19), TypeScript</a:t>
            </a:r>
            <a:br/>
            <a:r>
              <a:t>Three.js, React Three Fiber, Drei</a:t>
            </a:r>
            <a:br/>
            <a:r>
              <a:t>Framer Motion, GSAP, Zustand v5</a:t>
            </a:r>
            <a:br/>
            <a:r>
              <a:t>Vanilla CSS + CSS 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697480" cy="41148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918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FastAPI (Python) + Uvicorn</a:t>
            </a:r>
            <a:br/>
            <a:r>
              <a:t>Pydantic v2 Validation</a:t>
            </a:r>
            <a:br/>
            <a:r>
              <a:t>JWT Auth (python-jose + bcrypt)</a:t>
            </a:r>
            <a:br/>
            <a:r>
              <a:t>httpx + BeautifulSoup4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697480" cy="41148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5A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Google Sheets (gspread)</a:t>
            </a:r>
            <a:br/>
            <a:r>
              <a:t>8 Master Worksheets</a:t>
            </a:r>
            <a:br/>
            <a:r>
              <a:t>Local Excel Fallback (openpyxl)</a:t>
            </a:r>
            <a:br/>
            <a:r>
              <a:t>Dual-Write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697480" cy="411480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External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918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D0"/>
                </a:solidFill>
                <a:latin typeface="Calibri"/>
              </a:defRPr>
            </a:pPr>
            <a:r>
              <a:t>Groq API (High-Speed LLMs)</a:t>
            </a:r>
            <a:br/>
            <a:r>
              <a:t>GitHub Search REST API</a:t>
            </a:r>
            <a:br/>
            <a:r>
              <a:t>News API (Market Intelligence)</a:t>
            </a:r>
            <a:br/>
            <a:r>
              <a:t>Product Hunt GraphQL V2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A1A"/>
                </a:solidFill>
                <a:latin typeface="Calibri"/>
              </a:defRPr>
            </a:pPr>
            <a:r>
              <a:t>AGENT ROSTER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 Specialized Reasoning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Workflow</a:t>
            </a:r>
            <a:br/>
            <a: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6459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Qwen 3 32B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Bottleneck analysis</a:t>
            </a:r>
            <a:br/>
            <a:r>
              <a:t>&amp; automation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  <a:br/>
            <a:r>
              <a:t>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788920"/>
            <a:ext cx="1645920" cy="320040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Qwen 3 32B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461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SaaS matching &amp;</a:t>
            </a:r>
            <a:br/>
            <a:r>
              <a:t>compatibility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Sentiment</a:t>
            </a:r>
            <a:br/>
            <a:r>
              <a:t>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788920"/>
            <a:ext cx="16459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Qwen 3 32B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461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Community trust &amp;</a:t>
            </a:r>
            <a:br/>
            <a:r>
              <a:t>social reputation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17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Trend</a:t>
            </a:r>
            <a:br/>
            <a:r>
              <a:t>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Qwen 3 32B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Technology forecasting</a:t>
            </a:r>
            <a:br/>
            <a:r>
              <a:t>&amp; obsolescence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48056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617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ROI</a:t>
            </a:r>
            <a:br/>
            <a:r>
              <a:t>Estimation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5257800"/>
            <a:ext cx="164592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Qwen 3 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7150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Financial modeling &amp;</a:t>
            </a:r>
            <a:br/>
            <a:r>
              <a:t>payback calculations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480560"/>
            <a:ext cx="3520440" cy="219456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4617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Strategy</a:t>
            </a:r>
            <a:br/>
            <a:r>
              <a:t>Synthesis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5257800"/>
            <a:ext cx="164592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GPT-OSS-120B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7150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0"/>
                </a:solidFill>
                <a:latin typeface="Calibri"/>
              </a:defRPr>
            </a:pPr>
            <a:r>
              <a:t>Unified roadmap</a:t>
            </a:r>
            <a:br/>
            <a:r>
              <a:t>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6459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Roadmap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97480" cy="4389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00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A8"/>
                </a:solidFill>
                <a:latin typeface="Calibri"/>
              </a:defRPr>
            </a:pPr>
            <a:r>
              <a:t>v1.0 —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✅ Multi-agent AI consultant (Live)</a:t>
            </a:r>
            <a:br/>
            <a:r>
              <a:t>✅ Google Sheets database (Live)</a:t>
            </a:r>
            <a:br/>
            <a:r>
              <a:t>✅ 3D orbital visualization (Live)</a:t>
            </a:r>
            <a:br/>
            <a:r>
              <a:t>✅ JWT authentication (Live)</a:t>
            </a:r>
            <a:br/>
            <a:r>
              <a:t>✅ Market intelligence scraping (Live)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03120"/>
            <a:ext cx="2697480" cy="4389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286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v1.1 —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🔜 PostgreSQL migration option</a:t>
            </a:r>
            <a:br/>
            <a:r>
              <a:t>🔜 Real-time WebSocket chat</a:t>
            </a:r>
            <a:br/>
            <a:r>
              <a:t>🔜 Enhanced analytics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697480" cy="4389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v1.2 —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🔜 Team collaboration features</a:t>
            </a:r>
            <a:br/>
            <a:r>
              <a:t>🔜 Custom agent creation</a:t>
            </a:r>
            <a:br/>
            <a:r>
              <a:t>🔜 Multi-tenant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103120"/>
            <a:ext cx="2697480" cy="4389120"/>
          </a:xfrm>
          <a:prstGeom prst="roundRect">
            <a:avLst/>
          </a:prstGeom>
          <a:solidFill>
            <a:srgbClr val="12122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2860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v2.0 —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D0"/>
                </a:solidFill>
                <a:latin typeface="Calibri"/>
              </a:defRPr>
            </a:pPr>
            <a:r>
              <a:t>🔮 Self-improving agent loop</a:t>
            </a:r>
            <a:br/>
            <a:r>
              <a:t>🔮 Multi-tenant SaaS deployment</a:t>
            </a:r>
            <a:br/>
            <a:r>
              <a:t>🔮 Enterprise API marketplace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E5A8"/>
                </a:solidFill>
                <a:latin typeface="Calibri"/>
              </a:defRPr>
            </a:pPr>
            <a:r>
              <a:t>AdaptiveAI — AI-Native Operational Intelligence for Startups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0"/>
                </a:solidFill>
                <a:latin typeface="Calibri"/>
              </a:defRPr>
            </a:pPr>
            <a:r>
              <a:t>Built with ❤️ by Pagadala Mohith  |  ByteHearts × Ranovex AI Product Hackathon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846320"/>
            <a:ext cx="1645920" cy="146304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983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A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577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0"/>
                </a:solidFill>
                <a:latin typeface="Calibri"/>
              </a:defRPr>
            </a:pPr>
            <a:r>
              <a:t>Specialized</a:t>
            </a:r>
            <a:br/>
            <a:r>
              <a:t>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4846320"/>
            <a:ext cx="1645920" cy="146304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4983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A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5577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0"/>
                </a:solidFill>
                <a:latin typeface="Calibri"/>
              </a:defRPr>
            </a:pPr>
            <a:r>
              <a:t>LLM</a:t>
            </a:r>
            <a:br/>
            <a:r>
              <a:t>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59" y="4846320"/>
            <a:ext cx="1645920" cy="146304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399" y="4983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A8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5577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0"/>
                </a:solidFill>
                <a:latin typeface="Calibri"/>
              </a:defRPr>
            </a:pPr>
            <a:r>
              <a:t>AI Tools</a:t>
            </a:r>
            <a:br/>
            <a:r>
              <a:t>Indexed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846320"/>
            <a:ext cx="1645920" cy="146304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4983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A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5577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0"/>
                </a:solidFill>
                <a:latin typeface="Calibri"/>
              </a:defRPr>
            </a:pPr>
            <a:r>
              <a:t>Master</a:t>
            </a:r>
            <a:br/>
            <a:r>
              <a:t>Worksheets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4846320"/>
            <a:ext cx="1645920" cy="1463040"/>
          </a:xfrm>
          <a:prstGeom prst="roundRect">
            <a:avLst/>
          </a:prstGeom>
          <a:solidFill>
            <a:srgbClr val="12122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9834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A8"/>
                </a:solidFill>
                <a:latin typeface="Calibri"/>
              </a:defRPr>
            </a:pPr>
            <a:r>
              <a:t>&lt;25s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5778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0"/>
                </a:solidFill>
                <a:latin typeface="Calibri"/>
              </a:defRPr>
            </a:pPr>
            <a:r>
              <a:t>Full Pipeline</a:t>
            </a:r>
            <a:br/>
            <a:r>
              <a:t>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